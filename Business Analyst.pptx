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49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47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3252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1619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2354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5156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747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890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30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8107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8011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439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90754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4318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0426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2347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7939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8826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A664F9C-13CF-4C46-8D97-B854C3B34960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499F4-9836-4ABD-9575-968DB59E9F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8041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28F817-FFE7-497C-FEA3-F7D02DACDC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Business Analyst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F1E3A7-E468-80C5-1D84-81375822DF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2342021</a:t>
            </a:r>
          </a:p>
          <a:p>
            <a:r>
              <a:rPr lang="ja-JP" altLang="en-US" dirty="0"/>
              <a:t>臼井柚楽々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91342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05CB8C-201F-BF9B-3FB0-2ED047BF7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28" y="599498"/>
            <a:ext cx="10515600" cy="5801302"/>
          </a:xfrm>
        </p:spPr>
        <p:txBody>
          <a:bodyPr>
            <a:normAutofit/>
          </a:bodyPr>
          <a:lstStyle/>
          <a:p>
            <a:r>
              <a:rPr lang="en-US" altLang="ja-JP" b="1" dirty="0"/>
              <a:t>1. </a:t>
            </a:r>
            <a:r>
              <a:rPr lang="ja-JP" altLang="en-US" b="1" dirty="0"/>
              <a:t>企画概要（ビジネスアナリスト視点）</a:t>
            </a:r>
          </a:p>
          <a:p>
            <a:r>
              <a:rPr lang="ja-JP" altLang="en-US" b="1" dirty="0"/>
              <a:t>システム名（仮）</a:t>
            </a:r>
          </a:p>
          <a:p>
            <a:r>
              <a:rPr lang="en-US" altLang="ja-JP" b="1" dirty="0" err="1"/>
              <a:t>TaskFlow</a:t>
            </a:r>
            <a:r>
              <a:rPr lang="ja-JP" altLang="en-US" b="1" dirty="0"/>
              <a:t>（タスクフロー）</a:t>
            </a:r>
            <a:endParaRPr lang="ja-JP" altLang="en-US" dirty="0"/>
          </a:p>
          <a:p>
            <a:r>
              <a:rPr lang="ja-JP" altLang="en-US" b="1" dirty="0"/>
              <a:t>背景・課題</a:t>
            </a:r>
          </a:p>
          <a:p>
            <a:r>
              <a:rPr lang="ja-JP" altLang="en-US" dirty="0"/>
              <a:t>学業・仕事・プライベートのタスクが分散し、管理が煩雑</a:t>
            </a:r>
          </a:p>
          <a:p>
            <a:r>
              <a:rPr lang="ja-JP" altLang="en-US" dirty="0"/>
              <a:t>既存のタスク管理ツールは「高機能すぎて使いづらい」または「機能不足」</a:t>
            </a:r>
          </a:p>
          <a:p>
            <a:r>
              <a:rPr lang="ja-JP" altLang="en-US" dirty="0"/>
              <a:t>継続利用されず、形骸化しやすい</a:t>
            </a:r>
          </a:p>
          <a:p>
            <a:r>
              <a:rPr lang="ja-JP" altLang="en-US" b="1" dirty="0"/>
              <a:t>解決したい価値</a:t>
            </a:r>
          </a:p>
          <a:p>
            <a:r>
              <a:rPr lang="ja-JP" altLang="en-US" b="1" dirty="0"/>
              <a:t>迷わず使えるシンプルさ</a:t>
            </a:r>
            <a:endParaRPr lang="ja-JP" altLang="en-US" dirty="0"/>
          </a:p>
          <a:p>
            <a:r>
              <a:rPr lang="ja-JP" altLang="en-US" b="1" dirty="0"/>
              <a:t>行動につながる可視化</a:t>
            </a:r>
            <a:endParaRPr lang="ja-JP" altLang="en-US" dirty="0"/>
          </a:p>
          <a:p>
            <a:r>
              <a:rPr lang="ja-JP" altLang="en-US" b="1" dirty="0"/>
              <a:t>継続利用を促す仕組み</a:t>
            </a:r>
            <a:endParaRPr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6799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1A54A39-46DF-8082-D84E-72A1FB946D45}"/>
              </a:ext>
            </a:extLst>
          </p:cNvPr>
          <p:cNvSpPr txBox="1"/>
          <p:nvPr/>
        </p:nvSpPr>
        <p:spPr>
          <a:xfrm>
            <a:off x="639040" y="750793"/>
            <a:ext cx="105207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b="1" dirty="0"/>
              <a:t>2. </a:t>
            </a:r>
            <a:r>
              <a:rPr lang="ja-JP" altLang="en-US" b="1" dirty="0"/>
              <a:t>マーケティング視点</a:t>
            </a:r>
          </a:p>
          <a:p>
            <a:pPr>
              <a:buNone/>
            </a:pPr>
            <a:r>
              <a:rPr lang="ja-JP" altLang="en-US" b="1" dirty="0"/>
              <a:t>ターゲット市場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dirty="0"/>
              <a:t>個人向け（</a:t>
            </a:r>
            <a:r>
              <a:rPr lang="en-US" altLang="ja-JP" dirty="0"/>
              <a:t>B2C</a:t>
            </a:r>
            <a:r>
              <a:rPr lang="ja-JP" altLang="en-US" dirty="0"/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dirty="0"/>
              <a:t>学生・若手社会人・タスク管理が苦手な層</a:t>
            </a:r>
          </a:p>
          <a:p>
            <a:pPr>
              <a:buNone/>
            </a:pPr>
            <a:r>
              <a:rPr lang="ja-JP" altLang="en-US" b="1" dirty="0"/>
              <a:t>ポジショニング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dirty="0"/>
              <a:t>「</a:t>
            </a:r>
            <a:r>
              <a:rPr lang="en-US" altLang="ja-JP" dirty="0"/>
              <a:t>Notion</a:t>
            </a:r>
            <a:r>
              <a:rPr lang="ja-JP" altLang="en-US" dirty="0"/>
              <a:t>ほど重くない、</a:t>
            </a:r>
            <a:r>
              <a:rPr lang="en-US" altLang="ja-JP" dirty="0" err="1"/>
              <a:t>ToDo</a:t>
            </a:r>
            <a:r>
              <a:rPr lang="ja-JP" altLang="en-US" dirty="0"/>
              <a:t>アプリより賢い」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dirty="0"/>
              <a:t>初心者でも“続く”タスク管理</a:t>
            </a:r>
          </a:p>
        </p:txBody>
      </p:sp>
    </p:spTree>
    <p:extLst>
      <p:ext uri="{BB962C8B-B14F-4D97-AF65-F5344CB8AC3E}">
        <p14:creationId xmlns:p14="http://schemas.microsoft.com/office/powerpoint/2010/main" val="741073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94E323-BB79-0581-A852-632347273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7770"/>
            <a:ext cx="10515600" cy="5676612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b="1" dirty="0"/>
              <a:t>3. </a:t>
            </a:r>
            <a:r>
              <a:rPr lang="ja-JP" altLang="en-US" b="1" dirty="0"/>
              <a:t>ペルソナ定義</a:t>
            </a:r>
          </a:p>
          <a:p>
            <a:r>
              <a:rPr lang="ja-JP" altLang="en-US" b="1" dirty="0"/>
              <a:t>ペルソナ① メインユーザー</a:t>
            </a:r>
          </a:p>
          <a:p>
            <a:r>
              <a:rPr lang="ja-JP" altLang="en-US" b="1" dirty="0"/>
              <a:t>名前</a:t>
            </a:r>
            <a:r>
              <a:rPr lang="ja-JP" altLang="en-US" dirty="0"/>
              <a:t>：由奈（</a:t>
            </a:r>
            <a:r>
              <a:rPr lang="en-US" altLang="ja-JP" dirty="0"/>
              <a:t>21</a:t>
            </a:r>
            <a:r>
              <a:rPr lang="ja-JP" altLang="en-US" dirty="0"/>
              <a:t>歳・大学生）</a:t>
            </a:r>
          </a:p>
          <a:p>
            <a:r>
              <a:rPr lang="ja-JP" altLang="en-US" b="1" dirty="0"/>
              <a:t>環境</a:t>
            </a:r>
            <a:r>
              <a:rPr lang="ja-JP" altLang="en-US" dirty="0"/>
              <a:t>：大学・アルバイト・サークルを両立</a:t>
            </a:r>
          </a:p>
          <a:p>
            <a:r>
              <a:rPr lang="ja-JP" altLang="en-US" b="1" dirty="0"/>
              <a:t>課題</a:t>
            </a:r>
            <a:r>
              <a:rPr lang="ja-JP" altLang="en-US" dirty="0"/>
              <a:t>：</a:t>
            </a:r>
          </a:p>
          <a:p>
            <a:pPr lvl="1"/>
            <a:r>
              <a:rPr lang="ja-JP" altLang="en-US" dirty="0"/>
              <a:t>期限を忘れがち</a:t>
            </a:r>
          </a:p>
          <a:p>
            <a:pPr lvl="1"/>
            <a:r>
              <a:rPr lang="ja-JP" altLang="en-US" dirty="0"/>
              <a:t>手帳やアプリが続かない</a:t>
            </a:r>
          </a:p>
          <a:p>
            <a:r>
              <a:rPr lang="ja-JP" altLang="en-US" b="1" dirty="0"/>
              <a:t>ニーズ</a:t>
            </a:r>
            <a:r>
              <a:rPr lang="ja-JP" altLang="en-US" dirty="0"/>
              <a:t>：</a:t>
            </a:r>
          </a:p>
          <a:p>
            <a:pPr lvl="1"/>
            <a:r>
              <a:rPr lang="ja-JP" altLang="en-US" dirty="0"/>
              <a:t>今日やることが一目で分かる</a:t>
            </a:r>
          </a:p>
          <a:p>
            <a:pPr lvl="1"/>
            <a:r>
              <a:rPr lang="ja-JP" altLang="en-US" dirty="0"/>
              <a:t>達成感を感じたい</a:t>
            </a:r>
          </a:p>
          <a:p>
            <a:r>
              <a:rPr lang="ja-JP" altLang="en-US" b="1" dirty="0"/>
              <a:t>ペルソナ② サブユーザー</a:t>
            </a:r>
          </a:p>
          <a:p>
            <a:r>
              <a:rPr lang="ja-JP" altLang="en-US" b="1" dirty="0"/>
              <a:t>名前</a:t>
            </a:r>
            <a:r>
              <a:rPr lang="ja-JP" altLang="en-US" dirty="0"/>
              <a:t>：翔太（</a:t>
            </a:r>
            <a:r>
              <a:rPr lang="en-US" altLang="ja-JP" dirty="0"/>
              <a:t>25</a:t>
            </a:r>
            <a:r>
              <a:rPr lang="ja-JP" altLang="en-US" dirty="0"/>
              <a:t>歳・社会人</a:t>
            </a:r>
            <a:r>
              <a:rPr lang="en-US" altLang="ja-JP" dirty="0"/>
              <a:t>1</a:t>
            </a:r>
            <a:r>
              <a:rPr lang="ja-JP" altLang="en-US" dirty="0"/>
              <a:t>年目）</a:t>
            </a:r>
          </a:p>
          <a:p>
            <a:r>
              <a:rPr lang="ja-JP" altLang="en-US" b="1" dirty="0"/>
              <a:t>課題</a:t>
            </a:r>
            <a:r>
              <a:rPr lang="ja-JP" altLang="en-US" dirty="0"/>
              <a:t>：</a:t>
            </a:r>
          </a:p>
          <a:p>
            <a:pPr lvl="1"/>
            <a:r>
              <a:rPr lang="ja-JP" altLang="en-US" dirty="0"/>
              <a:t>仕事の抜け漏れが怖い</a:t>
            </a:r>
          </a:p>
          <a:p>
            <a:pPr lvl="1"/>
            <a:r>
              <a:rPr lang="ja-JP" altLang="en-US" dirty="0"/>
              <a:t>タスクの優先度付けが苦手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63506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9A6745-8C78-3B76-238F-A96552E68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4236"/>
            <a:ext cx="10515600" cy="5532727"/>
          </a:xfrm>
        </p:spPr>
        <p:txBody>
          <a:bodyPr>
            <a:normAutofit/>
          </a:bodyPr>
          <a:lstStyle/>
          <a:p>
            <a:r>
              <a:rPr lang="en-US" altLang="ja-JP" b="1" dirty="0"/>
              <a:t>4. </a:t>
            </a:r>
            <a:r>
              <a:rPr lang="ja-JP" altLang="en-US" b="1" dirty="0"/>
              <a:t>ストーリーボード（利用シナリオ）</a:t>
            </a:r>
          </a:p>
          <a:p>
            <a:r>
              <a:rPr lang="ja-JP" altLang="en-US" b="1" dirty="0"/>
              <a:t>シーン</a:t>
            </a:r>
            <a:r>
              <a:rPr lang="en-US" altLang="ja-JP" b="1" dirty="0"/>
              <a:t>1</a:t>
            </a:r>
            <a:r>
              <a:rPr lang="ja-JP" altLang="en-US" b="1" dirty="0"/>
              <a:t>：朝</a:t>
            </a:r>
          </a:p>
          <a:p>
            <a:r>
              <a:rPr lang="ja-JP" altLang="en-US" dirty="0"/>
              <a:t>通学中にアプリを起動</a:t>
            </a:r>
          </a:p>
          <a:p>
            <a:r>
              <a:rPr lang="ja-JP" altLang="en-US" dirty="0"/>
              <a:t>「今日のタスク」</a:t>
            </a:r>
            <a:r>
              <a:rPr lang="en-US" altLang="ja-JP" dirty="0"/>
              <a:t>3</a:t>
            </a:r>
            <a:r>
              <a:rPr lang="ja-JP" altLang="en-US" dirty="0"/>
              <a:t>件が表示</a:t>
            </a:r>
          </a:p>
          <a:p>
            <a:r>
              <a:rPr lang="ja-JP" altLang="en-US" b="1" dirty="0"/>
              <a:t>シーン</a:t>
            </a:r>
            <a:r>
              <a:rPr lang="en-US" altLang="ja-JP" b="1" dirty="0"/>
              <a:t>2</a:t>
            </a:r>
            <a:r>
              <a:rPr lang="ja-JP" altLang="en-US" b="1" dirty="0"/>
              <a:t>：昼</a:t>
            </a:r>
          </a:p>
          <a:p>
            <a:r>
              <a:rPr lang="ja-JP" altLang="en-US" dirty="0"/>
              <a:t>講義後にタスク</a:t>
            </a:r>
            <a:r>
              <a:rPr lang="en-US" altLang="ja-JP" dirty="0"/>
              <a:t>1</a:t>
            </a:r>
            <a:r>
              <a:rPr lang="ja-JP" altLang="en-US" dirty="0"/>
              <a:t>件完了</a:t>
            </a:r>
          </a:p>
          <a:p>
            <a:r>
              <a:rPr lang="ja-JP" altLang="en-US" dirty="0"/>
              <a:t>完了時に小さな達成アニメーション</a:t>
            </a:r>
          </a:p>
          <a:p>
            <a:r>
              <a:rPr lang="ja-JP" altLang="en-US" b="1" dirty="0"/>
              <a:t>シーン</a:t>
            </a:r>
            <a:r>
              <a:rPr lang="en-US" altLang="ja-JP" b="1" dirty="0"/>
              <a:t>3</a:t>
            </a:r>
            <a:r>
              <a:rPr lang="ja-JP" altLang="en-US" b="1" dirty="0"/>
              <a:t>：夜</a:t>
            </a:r>
          </a:p>
          <a:p>
            <a:r>
              <a:rPr lang="ja-JP" altLang="en-US" dirty="0"/>
              <a:t>明日のタスクが自動で提案される</a:t>
            </a:r>
          </a:p>
          <a:p>
            <a:r>
              <a:rPr lang="ja-JP" altLang="en-US" dirty="0"/>
              <a:t>未完了タスクは理由付きで繰り越し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5354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EF1AEA-B877-4E46-72A6-4A39DBA7E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1109"/>
            <a:ext cx="10515600" cy="5615854"/>
          </a:xfrm>
        </p:spPr>
        <p:txBody>
          <a:bodyPr>
            <a:normAutofit/>
          </a:bodyPr>
          <a:lstStyle/>
          <a:p>
            <a:r>
              <a:rPr lang="en-US" altLang="ja-JP" b="1" dirty="0"/>
              <a:t>5. </a:t>
            </a:r>
            <a:r>
              <a:rPr lang="ja-JP" altLang="en-US" b="1" dirty="0"/>
              <a:t>機能要件（ビジネス要件）</a:t>
            </a:r>
          </a:p>
          <a:p>
            <a:r>
              <a:rPr lang="ja-JP" altLang="en-US" b="1" dirty="0"/>
              <a:t>コア機能（</a:t>
            </a:r>
            <a:r>
              <a:rPr lang="en-US" altLang="ja-JP" b="1" dirty="0"/>
              <a:t>Must</a:t>
            </a:r>
            <a:r>
              <a:rPr lang="ja-JP" altLang="en-US" b="1" dirty="0"/>
              <a:t>）</a:t>
            </a:r>
          </a:p>
          <a:p>
            <a:r>
              <a:rPr lang="ja-JP" altLang="en-US" dirty="0"/>
              <a:t>タスク登録（期限・優先度）</a:t>
            </a:r>
          </a:p>
          <a:p>
            <a:r>
              <a:rPr lang="ja-JP" altLang="en-US" dirty="0"/>
              <a:t>今日のタスク自動抽出</a:t>
            </a:r>
          </a:p>
          <a:p>
            <a:r>
              <a:rPr lang="ja-JP" altLang="en-US" dirty="0"/>
              <a:t>完了／未完了管理</a:t>
            </a:r>
          </a:p>
          <a:p>
            <a:r>
              <a:rPr lang="ja-JP" altLang="en-US" b="1" dirty="0"/>
              <a:t>付加価値機能（</a:t>
            </a:r>
            <a:r>
              <a:rPr lang="en-US" altLang="ja-JP" b="1" dirty="0"/>
              <a:t>Should</a:t>
            </a:r>
            <a:r>
              <a:rPr lang="ja-JP" altLang="en-US" b="1" dirty="0"/>
              <a:t>）</a:t>
            </a:r>
          </a:p>
          <a:p>
            <a:r>
              <a:rPr lang="ja-JP" altLang="en-US" dirty="0"/>
              <a:t>タスクの自動リスケ</a:t>
            </a:r>
          </a:p>
          <a:p>
            <a:r>
              <a:rPr lang="ja-JP" altLang="en-US" dirty="0"/>
              <a:t>達成率の可視化</a:t>
            </a:r>
          </a:p>
          <a:p>
            <a:r>
              <a:rPr lang="ja-JP" altLang="en-US" dirty="0"/>
              <a:t>習慣化サポート（連続達成日数）</a:t>
            </a:r>
          </a:p>
          <a:p>
            <a:r>
              <a:rPr lang="ja-JP" altLang="en-US" b="1" dirty="0"/>
              <a:t>将来拡張（</a:t>
            </a:r>
            <a:r>
              <a:rPr lang="en-US" altLang="ja-JP" b="1" dirty="0"/>
              <a:t>Could</a:t>
            </a:r>
            <a:r>
              <a:rPr lang="ja-JP" altLang="en-US" b="1" dirty="0"/>
              <a:t>）</a:t>
            </a:r>
          </a:p>
          <a:p>
            <a:r>
              <a:rPr lang="ja-JP" altLang="en-US" dirty="0"/>
              <a:t>カレンダー連携</a:t>
            </a:r>
          </a:p>
          <a:p>
            <a:r>
              <a:rPr lang="ja-JP" altLang="en-US" dirty="0"/>
              <a:t>チーム共有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44815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27C8CF-36B5-0E88-15BD-F43D55737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781" y="744970"/>
            <a:ext cx="10515600" cy="5655829"/>
          </a:xfrm>
        </p:spPr>
        <p:txBody>
          <a:bodyPr>
            <a:normAutofit/>
          </a:bodyPr>
          <a:lstStyle/>
          <a:p>
            <a:r>
              <a:rPr lang="en-US" altLang="ja-JP" b="1" dirty="0"/>
              <a:t>6. UI</a:t>
            </a:r>
            <a:r>
              <a:rPr lang="ja-JP" altLang="en-US" b="1" dirty="0"/>
              <a:t>モック（テキストベース）</a:t>
            </a:r>
          </a:p>
          <a:p>
            <a:r>
              <a:rPr lang="ja-JP" altLang="en-US" b="1" dirty="0"/>
              <a:t>ホーム画面</a:t>
            </a:r>
          </a:p>
          <a:p>
            <a:r>
              <a:rPr lang="ja-JP" altLang="en-US" dirty="0"/>
              <a:t>今日のタスク（カード形式）</a:t>
            </a:r>
          </a:p>
          <a:p>
            <a:pPr lvl="1"/>
            <a:r>
              <a:rPr lang="ja-JP" altLang="en-US" dirty="0"/>
              <a:t>タスク名</a:t>
            </a:r>
          </a:p>
          <a:p>
            <a:pPr lvl="1"/>
            <a:r>
              <a:rPr lang="ja-JP" altLang="en-US" dirty="0"/>
              <a:t>期限</a:t>
            </a:r>
          </a:p>
          <a:p>
            <a:pPr lvl="1"/>
            <a:r>
              <a:rPr lang="ja-JP" altLang="en-US" dirty="0"/>
              <a:t>完了チェック</a:t>
            </a:r>
          </a:p>
          <a:p>
            <a:r>
              <a:rPr lang="ja-JP" altLang="en-US" b="1" dirty="0"/>
              <a:t>タスク追加画面</a:t>
            </a:r>
          </a:p>
          <a:p>
            <a:r>
              <a:rPr lang="ja-JP" altLang="en-US" dirty="0"/>
              <a:t>タスク名入力</a:t>
            </a:r>
          </a:p>
          <a:p>
            <a:r>
              <a:rPr lang="ja-JP" altLang="en-US" dirty="0"/>
              <a:t>期限選択</a:t>
            </a:r>
          </a:p>
          <a:p>
            <a:r>
              <a:rPr lang="ja-JP" altLang="en-US" dirty="0"/>
              <a:t>優先度（低・中・高）</a:t>
            </a:r>
          </a:p>
          <a:p>
            <a:r>
              <a:rPr lang="ja-JP" altLang="en-US" b="1" dirty="0"/>
              <a:t>振り返り画面</a:t>
            </a:r>
          </a:p>
          <a:p>
            <a:r>
              <a:rPr lang="ja-JP" altLang="en-US" dirty="0"/>
              <a:t>今週の達成率（％）</a:t>
            </a:r>
          </a:p>
          <a:p>
            <a:r>
              <a:rPr lang="ja-JP" altLang="en-US" dirty="0"/>
              <a:t>完了タスク数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1579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6DA359-F1A9-9750-3C8C-104162187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7982"/>
            <a:ext cx="10515600" cy="7273636"/>
          </a:xfrm>
        </p:spPr>
        <p:txBody>
          <a:bodyPr/>
          <a:lstStyle/>
          <a:p>
            <a:r>
              <a:rPr lang="en-US" altLang="ja-JP" b="1" dirty="0"/>
              <a:t>7. </a:t>
            </a:r>
            <a:r>
              <a:rPr lang="ja-JP" altLang="en-US" b="1" dirty="0"/>
              <a:t>ビジネス価値</a:t>
            </a:r>
          </a:p>
          <a:p>
            <a:r>
              <a:rPr lang="ja-JP" altLang="en-US" b="1" dirty="0"/>
              <a:t>ユーザー価値</a:t>
            </a:r>
          </a:p>
          <a:p>
            <a:r>
              <a:rPr lang="ja-JP" altLang="en-US" dirty="0"/>
              <a:t>タスク漏れ防止</a:t>
            </a:r>
          </a:p>
          <a:p>
            <a:r>
              <a:rPr lang="ja-JP" altLang="en-US" dirty="0"/>
              <a:t>ストレス軽減</a:t>
            </a:r>
          </a:p>
          <a:p>
            <a:r>
              <a:rPr lang="ja-JP" altLang="en-US" dirty="0"/>
              <a:t>自己効力感の向上</a:t>
            </a:r>
          </a:p>
          <a:p>
            <a:r>
              <a:rPr lang="ja-JP" altLang="en-US" b="1" dirty="0"/>
              <a:t>ビジネス価値</a:t>
            </a:r>
          </a:p>
          <a:p>
            <a:r>
              <a:rPr lang="ja-JP" altLang="en-US" dirty="0"/>
              <a:t>継続利用率の向上</a:t>
            </a:r>
          </a:p>
          <a:p>
            <a:r>
              <a:rPr lang="ja-JP" altLang="en-US" dirty="0"/>
              <a:t>課金モデルへの展開が可能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30220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A4FACC-C58A-EA3C-2E9E-C87A8BAF3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6" y="644236"/>
            <a:ext cx="10515600" cy="5408036"/>
          </a:xfrm>
        </p:spPr>
        <p:txBody>
          <a:bodyPr>
            <a:normAutofit/>
          </a:bodyPr>
          <a:lstStyle/>
          <a:p>
            <a:r>
              <a:rPr lang="en-US" altLang="ja-JP" b="1" dirty="0"/>
              <a:t>8. </a:t>
            </a:r>
            <a:r>
              <a:rPr lang="ja-JP" altLang="en-US" b="1" dirty="0"/>
              <a:t>収益モデルと</a:t>
            </a:r>
            <a:r>
              <a:rPr lang="en-US" altLang="ja-JP" b="1" dirty="0"/>
              <a:t>ROI</a:t>
            </a:r>
          </a:p>
          <a:p>
            <a:r>
              <a:rPr lang="ja-JP" altLang="en-US" b="1" dirty="0"/>
              <a:t>収益モデル</a:t>
            </a:r>
          </a:p>
          <a:p>
            <a:r>
              <a:rPr lang="ja-JP" altLang="en-US" dirty="0"/>
              <a:t>フリーミアム</a:t>
            </a:r>
          </a:p>
          <a:p>
            <a:pPr lvl="1"/>
            <a:r>
              <a:rPr lang="ja-JP" altLang="en-US" dirty="0"/>
              <a:t>無料：基本機能</a:t>
            </a:r>
          </a:p>
          <a:p>
            <a:pPr lvl="1"/>
            <a:r>
              <a:rPr lang="ja-JP" altLang="en-US" dirty="0"/>
              <a:t>有料（月</a:t>
            </a:r>
            <a:r>
              <a:rPr lang="en-US" altLang="ja-JP" dirty="0"/>
              <a:t>300</a:t>
            </a:r>
            <a:r>
              <a:rPr lang="ja-JP" altLang="en-US" dirty="0"/>
              <a:t>円）：分析・履歴・連携機能</a:t>
            </a:r>
          </a:p>
          <a:p>
            <a:r>
              <a:rPr lang="en-US" altLang="ja-JP" b="1" dirty="0"/>
              <a:t>ROI</a:t>
            </a:r>
            <a:r>
              <a:rPr lang="ja-JP" altLang="en-US" b="1" dirty="0"/>
              <a:t>（例）</a:t>
            </a:r>
          </a:p>
          <a:p>
            <a:r>
              <a:rPr lang="ja-JP" altLang="en-US" dirty="0"/>
              <a:t>初期開発費：</a:t>
            </a:r>
            <a:r>
              <a:rPr lang="en-US" altLang="ja-JP" dirty="0"/>
              <a:t>300</a:t>
            </a:r>
            <a:r>
              <a:rPr lang="ja-JP" altLang="en-US" dirty="0"/>
              <a:t>万円</a:t>
            </a:r>
          </a:p>
          <a:p>
            <a:r>
              <a:rPr lang="ja-JP" altLang="en-US" dirty="0"/>
              <a:t>年間ユーザー：</a:t>
            </a:r>
            <a:r>
              <a:rPr lang="en-US" altLang="ja-JP" dirty="0"/>
              <a:t>5</a:t>
            </a:r>
            <a:r>
              <a:rPr lang="ja-JP" altLang="en-US" dirty="0"/>
              <a:t>万人</a:t>
            </a:r>
          </a:p>
          <a:p>
            <a:r>
              <a:rPr lang="ja-JP" altLang="en-US" dirty="0"/>
              <a:t>有料転換率：</a:t>
            </a:r>
            <a:r>
              <a:rPr lang="en-US" altLang="ja-JP" dirty="0"/>
              <a:t>5</a:t>
            </a:r>
            <a:r>
              <a:rPr lang="ja-JP" altLang="en-US" dirty="0"/>
              <a:t>％（</a:t>
            </a:r>
            <a:r>
              <a:rPr lang="en-US" altLang="ja-JP" dirty="0"/>
              <a:t>2,500</a:t>
            </a:r>
            <a:r>
              <a:rPr lang="ja-JP" altLang="en-US" dirty="0"/>
              <a:t>人）</a:t>
            </a:r>
          </a:p>
          <a:p>
            <a:r>
              <a:rPr lang="ja-JP" altLang="en-US" dirty="0"/>
              <a:t>年間売上：約</a:t>
            </a:r>
            <a:r>
              <a:rPr lang="en-US" altLang="ja-JP" dirty="0"/>
              <a:t>900</a:t>
            </a:r>
            <a:r>
              <a:rPr lang="ja-JP" altLang="en-US" dirty="0"/>
              <a:t>万円</a:t>
            </a:r>
          </a:p>
          <a:p>
            <a:r>
              <a:rPr lang="ja-JP" altLang="en-US" dirty="0"/>
              <a:t>→ </a:t>
            </a:r>
            <a:r>
              <a:rPr lang="en-US" altLang="ja-JP" b="1" dirty="0"/>
              <a:t>1</a:t>
            </a:r>
            <a:r>
              <a:rPr lang="ja-JP" altLang="en-US" b="1" dirty="0"/>
              <a:t>年以内の投資回収が可能</a:t>
            </a:r>
            <a:endParaRPr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92941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4DA1FC-973F-BA3D-C14B-1C6A3C6AD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036" y="433243"/>
            <a:ext cx="10515600" cy="4351338"/>
          </a:xfrm>
        </p:spPr>
        <p:txBody>
          <a:bodyPr/>
          <a:lstStyle/>
          <a:p>
            <a:r>
              <a:rPr lang="en-US" altLang="ja-JP" b="1" dirty="0"/>
              <a:t>9. </a:t>
            </a:r>
            <a:r>
              <a:rPr lang="ja-JP" altLang="en-US" b="1" dirty="0"/>
              <a:t>成功指標（</a:t>
            </a:r>
            <a:r>
              <a:rPr lang="en-US" altLang="ja-JP" b="1" dirty="0"/>
              <a:t>KPI</a:t>
            </a:r>
            <a:r>
              <a:rPr lang="ja-JP" altLang="en-US" b="1" dirty="0"/>
              <a:t>）</a:t>
            </a:r>
          </a:p>
          <a:p>
            <a:r>
              <a:rPr lang="en-US" altLang="ja-JP" dirty="0"/>
              <a:t>DAU / MAU</a:t>
            </a:r>
          </a:p>
          <a:p>
            <a:r>
              <a:rPr lang="ja-JP" altLang="en-US" dirty="0"/>
              <a:t>継続利用率（</a:t>
            </a:r>
            <a:r>
              <a:rPr lang="en-US" altLang="ja-JP" dirty="0"/>
              <a:t>30</a:t>
            </a:r>
            <a:r>
              <a:rPr lang="ja-JP" altLang="en-US" dirty="0"/>
              <a:t>日）</a:t>
            </a:r>
          </a:p>
          <a:p>
            <a:r>
              <a:rPr lang="ja-JP" altLang="en-US" dirty="0"/>
              <a:t>有料転換率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836137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イオン">
  <a:themeElements>
    <a:clrScheme name="イオン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イオン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イオン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465</Words>
  <Application>Microsoft Office PowerPoint</Application>
  <PresentationFormat>ワイド画面</PresentationFormat>
  <Paragraphs>94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イオン</vt:lpstr>
      <vt:lpstr>Business Analyst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g2342021</dc:creator>
  <cp:lastModifiedBy>g2342021</cp:lastModifiedBy>
  <cp:revision>1</cp:revision>
  <dcterms:created xsi:type="dcterms:W3CDTF">2025-12-23T01:30:13Z</dcterms:created>
  <dcterms:modified xsi:type="dcterms:W3CDTF">2025-12-23T01:57:28Z</dcterms:modified>
</cp:coreProperties>
</file>